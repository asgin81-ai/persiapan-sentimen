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Space Grotesk"/>
      <ns0:bold ns1:id="rIdFont19"/>
      <ns0:regular ns1:id="rIdFont20"/>
    </ns0:embeddedFont>
    <ns0:embeddedFont>
      <ns0:font typeface="IBM Plex Mono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90f70901-662d-4241-8028-aa86beb45546.fntdata" /><ns0:Relationship Id="rIdFont20" Type="http://schemas.openxmlformats.org/officeDocument/2006/relationships/font" Target="fonts/06262502-b592-4894-9a1a-885f29c4b640.fntdata" /><ns0:Relationship Id="rIdFont21" Type="http://schemas.openxmlformats.org/officeDocument/2006/relationships/font" Target="fonts/16e606b3-e2db-4eab-a3ad-7d980b168da4.fntdata" /><ns0:Relationship Id="rIdFont22" Type="http://schemas.openxmlformats.org/officeDocument/2006/relationships/font" Target="fonts/e31c75f4-88bb-4568-8314-9669336f13f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824412"/>
            <a:ext cx="685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995487"/>
            <a:ext cx="110680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9669"/>
                </a:solidFill>
                <a:latin typeface="IBM Plex Mono"/>
              </a:rPr>
              <a:t>PRAKTIKUM PEMROSESAN BAHASA ALAMI (NLP-P5-V1)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05062"/>
            <a:ext cx="8601075" cy="1352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F8FAFC"/>
                </a:solidFill>
                <a:latin typeface="Space Grotesk"/>
              </a:rPr>
              <a:t>Tahapan Analisis Sentimen Berbasis Aspek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986212"/>
            <a:ext cx="65722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Space Grotesk"/>
              </a:rPr>
              <a:t>Studi alur pemrosesan, anotasi manual, pembagian data, dan ekstraksi fitur TF-IDF pada 60 sampel ulasan pelanggan.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90837"/>
            <a:ext cx="2072580" cy="1981200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34580" y="3000375"/>
            <a:ext cx="2072580" cy="1762125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59560" y="2890837"/>
            <a:ext cx="2072580" cy="1981200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84541" y="3000375"/>
            <a:ext cx="2072580" cy="1762125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09521" y="2781300"/>
            <a:ext cx="2072580" cy="2200275"/>
          </a:xfrm>
          <a:prstGeom prst="roundRect">
            <a:avLst>
              <a:gd name="adj" fmla="val 36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0680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BM Plex Mono"/>
              </a:rPr>
              <a:t>ALUR KERJA EKSPERIMEN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Lima Tahapan Utama Analisis Sentimen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119437"/>
            <a:ext cx="171063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2563EB"/>
                </a:solidFill>
                <a:latin typeface="IBM Plex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62362"/>
            <a:ext cx="212018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Akuisisi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986212"/>
            <a:ext cx="171063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Pengumpulan 60 sampel ulasan sintetis.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180" y="3228975"/>
            <a:ext cx="171063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2563EB"/>
                </a:solidFill>
                <a:latin typeface="IBM Plex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180" y="3771900"/>
            <a:ext cx="212018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Anotasi Aspek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180" y="4095750"/>
            <a:ext cx="171063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Pelabelan sentimen beserta bukti teks.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8160" y="3119437"/>
            <a:ext cx="171063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2563EB"/>
                </a:solidFill>
                <a:latin typeface="IBM Plex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8160" y="3662362"/>
            <a:ext cx="212018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Prapemrosesan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8160" y="3986212"/>
            <a:ext cx="171063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Normalisasi teks tanpa hapus kata henti.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3141" y="3228975"/>
            <a:ext cx="171063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2563EB"/>
                </a:solidFill>
                <a:latin typeface="IBM Plex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3141" y="3771900"/>
            <a:ext cx="212018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Pembagian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3141" y="4095750"/>
            <a:ext cx="171063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Pemisahan data latih, validasi, uji.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121" y="3009900"/>
            <a:ext cx="171063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2563EB"/>
                </a:solidFill>
                <a:latin typeface="IBM Plex Mono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121" y="3552825"/>
            <a:ext cx="212018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Vektorisasi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121" y="3876675"/>
            <a:ext cx="171063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Pembobotan TF-IDF dan penyeimbangan kelas.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10680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BM Plex Mono"/>
              </a:rPr>
              <a:t>TAHAP 1: AKUISISI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Skala Korpus Eksperimen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72100" y="2781300"/>
            <a:ext cx="1809750" cy="1457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0" i="0" u="none">
                <a:solidFill>
                  <a:srgbClr val="2563EB"/>
                </a:solidFill>
                <a:latin typeface="Space Grotesk"/>
              </a:rPr>
              <a:t>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6637" y="4391025"/>
            <a:ext cx="629840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Total Sampel Ulasan Pelanggan (R001 – R060)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7500" y="4762500"/>
            <a:ext cx="8096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Data sintetis terstruktur dalam skema standar nlp-p5-v1 untuk evaluasi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33712"/>
            <a:ext cx="3505200" cy="1695450"/>
          </a:xfrm>
          <a:prstGeom prst="roundRect">
            <a:avLst>
              <a:gd name="adj" fmla="val 6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33712"/>
            <a:ext cx="3505200" cy="1695450"/>
          </a:xfrm>
          <a:prstGeom prst="roundRect">
            <a:avLst>
              <a:gd name="adj" fmla="val 6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33712"/>
            <a:ext cx="3505200" cy="1695450"/>
          </a:xfrm>
          <a:prstGeom prst="roundRect">
            <a:avLst>
              <a:gd name="adj" fmla="val 6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38512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338512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338512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0680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BM Plex Mono"/>
              </a:rPr>
              <a:t>TAHAP 2: ANOTASI SENTIMEN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Klasifikasi Tiga Polaritas Utama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5712"/>
            <a:ext cx="38004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Sentimen Positif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5287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30 ulasan kepuasan pelanggan.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3795712"/>
            <a:ext cx="38004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Sentimen Negatif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200" y="4205287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18 ulasan keluhan layanan.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3795712"/>
            <a:ext cx="38004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Sentimen Netral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4205287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12 pernyataan fakta objektif.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90762"/>
            <a:ext cx="10972800" cy="31813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290762"/>
          <a:ext cx="10972799" cy="31813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837902"/>
                <a:gridCol w="4708326"/>
                <a:gridCol w="1017389"/>
                <a:gridCol w="1995041"/>
                <a:gridCol w="2414141"/>
              </a:tblGrid>
              <a:tr h="5302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Teks Ulasan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Label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Aspek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Bukti Penentu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IBM Plex Mono"/>
                        </a:rPr>
                        <a:t>R001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Pelayanan tidak bagus dan responsnya lambat.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E11D48"/>
                          </a:solidFill>
                          <a:latin typeface="Space Grotesk"/>
                        </a:rPr>
                        <a:t>negatif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Pelayanan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Space Grotesk"/>
                        </a:rPr>
                        <a:t>"tidak bagus", "lambat"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IBM Plex Mono"/>
                        </a:rPr>
                        <a:t>R003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Toko buka pukul delapan pagi.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64748B"/>
                          </a:solidFill>
                          <a:latin typeface="Space Grotesk"/>
                        </a:rPr>
                        <a:t>netral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Operasional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Space Grotesk"/>
                        </a:rPr>
                        <a:t>Fakta informatif murni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IBM Plex Mono"/>
                        </a:rPr>
                        <a:t>R008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Gak mengecewakan, kualitasnya bagus.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59669"/>
                          </a:solidFill>
                          <a:latin typeface="Space Grotesk"/>
                        </a:rPr>
                        <a:t>positif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Kualitas Produk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Space Grotesk"/>
                        </a:rPr>
                        <a:t>"gak mengecewakan"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IBM Plex Mono"/>
                        </a:rPr>
                        <a:t>R022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Stok ternyata habis setelah pembayaran berhasil.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E11D48"/>
                          </a:solidFill>
                          <a:latin typeface="Space Grotesk"/>
                        </a:rPr>
                        <a:t>negatif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Ketersediaan Stok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Space Grotesk"/>
                        </a:rPr>
                        <a:t>"ternyata habis"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IBM Plex Mono"/>
                        </a:rPr>
                        <a:t>R046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Rasanya mantap bgt, suka!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59669"/>
                          </a:solidFill>
                          <a:latin typeface="Space Grotesk"/>
                        </a:rPr>
                        <a:t>positif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Space Grotesk"/>
                        </a:rPr>
                        <a:t>Kualitas Produk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Space Grotesk"/>
                        </a:rPr>
                        <a:t>"mantap bgt", "suka!"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0680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BM Plex Mono"/>
              </a:rPr>
              <a:t>STRUKTUR ANOTASI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Contoh Rekaman beserta Bukti Teks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0680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BM Plex Mono"/>
              </a:rPr>
              <a:t>PEMETAAN TOPIK ULASAN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Lima Kategori Aspek Paling Dominan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319337"/>
            <a:ext cx="110680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BM Plex Mono"/>
              </a:rPr>
              <a:t>BAGIAN KEDUA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28912"/>
            <a:ext cx="7600950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Prapemrosesan Teks &amp; Rekayasa Fitur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043362"/>
            <a:ext cx="60007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Space Grotesk"/>
              </a:rPr>
              <a:t>Transformasi teks mentah menjadi representasi numerik terukur untuk pelatihan model pembelajaran mesin.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90762"/>
            <a:ext cx="537210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290762"/>
            <a:ext cx="537210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95737"/>
            <a:ext cx="537210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995737"/>
            <a:ext cx="537210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557462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557462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4262437"/>
            <a:ext cx="33337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4262437"/>
            <a:ext cx="2667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BM Plex Mono"/>
              </a:rPr>
              <a:t>TAHAP 3: PRAPEMROSESAN TEKS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Spesifikasi Pembersihan Karakter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938462"/>
            <a:ext cx="635079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Normalisasi NFKC &amp; Huruf Kecil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281362"/>
            <a:ext cx="6048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Penyeragaman kode karakter standar Unicode.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2938462"/>
            <a:ext cx="5715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Pembersihan Simbol &amp; Tautan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281362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Penghapusan URL beserta tanda baca non-alfanumerik.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643437"/>
            <a:ext cx="635079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Konversi 6 Kata Gaul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986337"/>
            <a:ext cx="6048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Pembakuan kata tidak baku seperti "gak" dan "bgt".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4643437"/>
            <a:ext cx="5715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Tanpa Stemming &amp; Stopword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4986337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Pelestarian kata negasi krusial seperti "tidak".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05100"/>
            <a:ext cx="5334000" cy="2352675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05100"/>
            <a:ext cx="5334000" cy="2352675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0680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BM Plex Mono"/>
              </a:rPr>
              <a:t>KEPUTUSAN DESAIN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Dampak Penghapusan Kata Henti terhadap Makna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048000"/>
            <a:ext cx="610076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11D48"/>
                </a:solidFill>
                <a:latin typeface="Space Grotesk"/>
              </a:rPr>
              <a:t>Dengan Hapus Stopword (Keliru)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1300" y="3048000"/>
            <a:ext cx="56007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59669"/>
                </a:solidFill>
                <a:latin typeface="Space Grotesk"/>
              </a:rPr>
              <a:t>Pendekatan Eksperimen (Tepat)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533775"/>
            <a:ext cx="581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Space Grotesk"/>
              </a:rPr>
              <a:t>Teks Asli:</a:t>
            </a:r>
            <a:r>
              <a:rPr b="0" sz="1350" i="0" u="none">
                <a:solidFill>
                  <a:srgbClr val="334155"/>
                </a:solidFill>
                <a:latin typeface="Space Grotesk"/>
              </a:rPr>
              <a:t> "Gak mengecewakan, kualitasnya bagus."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905250"/>
            <a:ext cx="581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Space Grotesk"/>
              </a:rPr>
              <a:t>Hasil Filter:</a:t>
            </a:r>
            <a:r>
              <a:rPr b="0" sz="1350" i="0" u="none">
                <a:solidFill>
                  <a:srgbClr val="334155"/>
                </a:solidFill>
                <a:latin typeface="Space Grotesk"/>
              </a:rPr>
              <a:t> "mengecewakan kualitas bagus"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276725"/>
            <a:ext cx="4743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11D48"/>
                </a:solidFill>
                <a:latin typeface="Space Grotesk"/>
              </a:rPr>
              <a:t>Risiko:</a:t>
            </a:r>
            <a:r>
              <a:rPr b="0" sz="1350" i="0" u="none">
                <a:solidFill>
                  <a:srgbClr val="E11D48"/>
                </a:solidFill>
                <a:latin typeface="Space Grotesk"/>
              </a:rPr>
              <a:t> Hilangnya kata "tidak" membalikkan polaritas sentimen.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1300" y="3533775"/>
            <a:ext cx="56007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Space Grotesk"/>
              </a:rPr>
              <a:t>Teks Asli:</a:t>
            </a:r>
            <a:r>
              <a:rPr b="0" sz="1350" i="0" u="none">
                <a:solidFill>
                  <a:srgbClr val="334155"/>
                </a:solidFill>
                <a:latin typeface="Space Grotesk"/>
              </a:rPr>
              <a:t> "Gak mengecewakan, kualitasnya bagus."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300" y="3905250"/>
            <a:ext cx="4743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Space Grotesk"/>
              </a:rPr>
              <a:t>Normalisasi Slang:</a:t>
            </a:r>
            <a:r>
              <a:rPr b="0" sz="1350" i="0" u="none">
                <a:solidFill>
                  <a:srgbClr val="334155"/>
                </a:solidFill>
                <a:latin typeface="Space Grotesk"/>
              </a:rPr>
              <a:t> "tidak mengecewakan kualitasnya bagus"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4495800"/>
            <a:ext cx="56007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59669"/>
                </a:solidFill>
                <a:latin typeface="Space Grotesk"/>
              </a:rPr>
              <a:t>Keunggulan:</a:t>
            </a:r>
            <a:r>
              <a:rPr b="0" sz="1350" i="0" u="none">
                <a:solidFill>
                  <a:srgbClr val="059669"/>
                </a:solidFill>
                <a:latin typeface="Space Grotesk"/>
              </a:rPr>
              <a:t> Konteks negasi dan imbuhan tetap utuh.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10680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BM Plex Mono"/>
              </a:rPr>
              <a:t>TAHAP 4: PEMBAGIAN DATA (SEED = 42)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Proporsi Partisi Pelatihan &amp; Evaluasi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9462" y="3143250"/>
            <a:ext cx="3250406" cy="876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5400" i="0" u="none">
                <a:solidFill>
                  <a:srgbClr val="2563EB"/>
                </a:solidFill>
                <a:latin typeface="Space Grotesk"/>
              </a:rPr>
              <a:t>40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462" y="4095750"/>
            <a:ext cx="325040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Data Latih (Train)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462" y="4400550"/>
            <a:ext cx="32504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20 Positif, 12 Negatif, 8 Netral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9513" y="3143250"/>
            <a:ext cx="3095625" cy="876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5400" i="0" u="none">
                <a:solidFill>
                  <a:srgbClr val="059669"/>
                </a:solidFill>
                <a:latin typeface="Space Grotesk"/>
              </a:rPr>
              <a:t>10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9513" y="4095750"/>
            <a:ext cx="3095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Data Validasi (Val)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9513" y="4400550"/>
            <a:ext cx="3095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5 Positif, 3 Negatif, 2 Netral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5739" y="3143250"/>
            <a:ext cx="3095625" cy="876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5400" i="0" u="none">
                <a:solidFill>
                  <a:srgbClr val="0F172A"/>
                </a:solidFill>
                <a:latin typeface="Space Grotesk"/>
              </a:rPr>
              <a:t>10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5739" y="4095750"/>
            <a:ext cx="3095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Data Uji (Test)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5739" y="4400550"/>
            <a:ext cx="3095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5 Positif, 3 Negatif, 2 Netral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81700" y="2366962"/>
            <a:ext cx="5600700" cy="3028950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0680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BM Plex Mono"/>
              </a:rPr>
              <a:t>TAHAP 5: EKSTRAKSI FITUR &amp; PEMBOBOTAN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Kamus TF-IDF &amp; Penyeimbangan Kelas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19425"/>
            <a:ext cx="655081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Karakteristik Vektor TF-IDF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671762"/>
            <a:ext cx="59055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Bobot Kelas (Class Weights)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119437"/>
            <a:ext cx="5905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Kompensasi ketimpangan jumlah sampel antar label: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467100"/>
            <a:ext cx="6238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Space Grotesk"/>
              </a:rPr>
              <a:t>Ukuran Kosakata:</a:t>
            </a:r>
            <a:r>
              <a:rPr b="0" sz="1350" i="0" u="none">
                <a:solidFill>
                  <a:srgbClr val="334155"/>
                </a:solidFill>
                <a:latin typeface="Space Grotesk"/>
              </a:rPr>
              <a:t> 155 token unik dari 40 data latih.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819525"/>
            <a:ext cx="6238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Space Grotesk"/>
              </a:rPr>
              <a:t>IDF Terendah (2,41):</a:t>
            </a:r>
            <a:r>
              <a:rPr b="0" sz="1350" i="0" u="none">
                <a:solidFill>
                  <a:srgbClr val="334155"/>
                </a:solidFill>
                <a:latin typeface="Space Grotesk"/>
              </a:rPr>
              <a:t> Kata hubung umum "dan".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171950"/>
            <a:ext cx="6238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Space Grotesk"/>
              </a:rPr>
              <a:t>Kata Negasi (2,77):</a:t>
            </a:r>
            <a:r>
              <a:rPr b="0" sz="1350" i="0" u="none">
                <a:solidFill>
                  <a:srgbClr val="334155"/>
                </a:solidFill>
                <a:latin typeface="Space Grotesk"/>
              </a:rPr>
              <a:t> Token "tidak" muncul rutin di korpus.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24375"/>
            <a:ext cx="6238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Space Grotesk"/>
              </a:rPr>
              <a:t>IDF Tertinggi (4,02):</a:t>
            </a:r>
            <a:r>
              <a:rPr b="0" sz="1350" i="0" u="none">
                <a:solidFill>
                  <a:srgbClr val="334155"/>
                </a:solidFill>
                <a:latin typeface="Space Grotesk"/>
              </a:rPr>
              <a:t> Kata spesifik ("aman", "bocor", "sabar").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3643312"/>
            <a:ext cx="20669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59669"/>
                </a:solidFill>
                <a:latin typeface="Space Grotesk"/>
              </a:rPr>
              <a:t>Kelas Positif (50% data)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0" y="3643312"/>
            <a:ext cx="5143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BM Plex Mono"/>
              </a:rPr>
              <a:t>0,67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0" y="4167187"/>
            <a:ext cx="21336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11D48"/>
                </a:solidFill>
                <a:latin typeface="Space Grotesk"/>
              </a:rPr>
              <a:t>Kelas Negatif (30% data)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500" y="4167187"/>
            <a:ext cx="5143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BM Plex Mono"/>
              </a:rPr>
              <a:t>1,11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4691062"/>
            <a:ext cx="20193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Space Grotesk"/>
              </a:rPr>
              <a:t>Kelas Netral (20% data)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58500" y="4691062"/>
            <a:ext cx="5143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BM Plex Mono"/>
              </a:rPr>
              <a:t>1,67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67250" y="2424112"/>
            <a:ext cx="28575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59669"/>
                </a:solidFill>
                <a:latin typeface="IBM Plex Mono"/>
              </a:rPr>
              <a:t>KESIMPULAN PRAKTIKUM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5375" y="2833687"/>
            <a:ext cx="10001250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Space Grotesk"/>
              </a:rPr>
              <a:t>Kualitas Anotasi &amp; Prapemrosesan Menentukan Akurasi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22093" y="4186237"/>
            <a:ext cx="154781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Space Grotesk"/>
              </a:rPr>
              <a:t>Terima kasih.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